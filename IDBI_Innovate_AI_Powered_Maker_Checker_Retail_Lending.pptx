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70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E11FA8-08C4-47E5-B9C4-3270891581DC}" v="25" dt="2026-07-07T21:08:00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 KUMAR BISWAS" userId="f18dd9a85cfebdd9" providerId="LiveId" clId="{2E71AFAD-4D36-45FF-AFC0-27EF2E3DEF6B}"/>
    <pc:docChg chg="undo custSel delSld modSld">
      <pc:chgData name="ANIK KUMAR BISWAS" userId="f18dd9a85cfebdd9" providerId="LiveId" clId="{2E71AFAD-4D36-45FF-AFC0-27EF2E3DEF6B}" dt="2026-07-08T19:51:00.617" v="227" actId="20577"/>
      <pc:docMkLst>
        <pc:docMk/>
      </pc:docMkLst>
      <pc:sldChg chg="modSp mod">
        <pc:chgData name="ANIK KUMAR BISWAS" userId="f18dd9a85cfebdd9" providerId="LiveId" clId="{2E71AFAD-4D36-45FF-AFC0-27EF2E3DEF6B}" dt="2026-07-07T20:02:58.064" v="87" actId="20577"/>
        <pc:sldMkLst>
          <pc:docMk/>
          <pc:sldMk cId="0" sldId="256"/>
        </pc:sldMkLst>
        <pc:spChg chg="mod">
          <ac:chgData name="ANIK KUMAR BISWAS" userId="f18dd9a85cfebdd9" providerId="LiveId" clId="{2E71AFAD-4D36-45FF-AFC0-27EF2E3DEF6B}" dt="2026-07-07T20:02:58.064" v="87" actId="20577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ANIK KUMAR BISWAS" userId="f18dd9a85cfebdd9" providerId="LiveId" clId="{2E71AFAD-4D36-45FF-AFC0-27EF2E3DEF6B}" dt="2026-07-07T20:50:42.682" v="193" actId="13926"/>
        <pc:sldMkLst>
          <pc:docMk/>
          <pc:sldMk cId="0" sldId="257"/>
        </pc:sldMkLst>
        <pc:spChg chg="mod">
          <ac:chgData name="ANIK KUMAR BISWAS" userId="f18dd9a85cfebdd9" providerId="LiveId" clId="{2E71AFAD-4D36-45FF-AFC0-27EF2E3DEF6B}" dt="2026-07-07T20:50:42.682" v="193" actId="13926"/>
          <ac:spMkLst>
            <pc:docMk/>
            <pc:sldMk cId="0" sldId="257"/>
            <ac:spMk id="61" creationId="{00000000-0000-0000-0000-000000000000}"/>
          </ac:spMkLst>
        </pc:spChg>
      </pc:sldChg>
      <pc:sldChg chg="modSp mod">
        <pc:chgData name="ANIK KUMAR BISWAS" userId="f18dd9a85cfebdd9" providerId="LiveId" clId="{2E71AFAD-4D36-45FF-AFC0-27EF2E3DEF6B}" dt="2026-07-07T20:22:19.554" v="143" actId="255"/>
        <pc:sldMkLst>
          <pc:docMk/>
          <pc:sldMk cId="0" sldId="258"/>
        </pc:sldMkLst>
        <pc:spChg chg="mod">
          <ac:chgData name="ANIK KUMAR BISWAS" userId="f18dd9a85cfebdd9" providerId="LiveId" clId="{2E71AFAD-4D36-45FF-AFC0-27EF2E3DEF6B}" dt="2026-07-07T20:22:19.554" v="143" actId="255"/>
          <ac:spMkLst>
            <pc:docMk/>
            <pc:sldMk cId="0" sldId="258"/>
            <ac:spMk id="67" creationId="{00000000-0000-0000-0000-000000000000}"/>
          </ac:spMkLst>
        </pc:spChg>
      </pc:sldChg>
      <pc:sldChg chg="modSp mod">
        <pc:chgData name="ANIK KUMAR BISWAS" userId="f18dd9a85cfebdd9" providerId="LiveId" clId="{2E71AFAD-4D36-45FF-AFC0-27EF2E3DEF6B}" dt="2026-07-07T20:27:15.539" v="149" actId="20577"/>
        <pc:sldMkLst>
          <pc:docMk/>
          <pc:sldMk cId="0" sldId="259"/>
        </pc:sldMkLst>
        <pc:spChg chg="mod">
          <ac:chgData name="ANIK KUMAR BISWAS" userId="f18dd9a85cfebdd9" providerId="LiveId" clId="{2E71AFAD-4D36-45FF-AFC0-27EF2E3DEF6B}" dt="2026-07-07T20:27:15.539" v="149" actId="20577"/>
          <ac:spMkLst>
            <pc:docMk/>
            <pc:sldMk cId="0" sldId="259"/>
            <ac:spMk id="74" creationId="{00000000-0000-0000-0000-000000000000}"/>
          </ac:spMkLst>
        </pc:spChg>
      </pc:sldChg>
      <pc:sldChg chg="modSp mod">
        <pc:chgData name="ANIK KUMAR BISWAS" userId="f18dd9a85cfebdd9" providerId="LiveId" clId="{2E71AFAD-4D36-45FF-AFC0-27EF2E3DEF6B}" dt="2026-07-07T20:50:48.536" v="194" actId="13926"/>
        <pc:sldMkLst>
          <pc:docMk/>
          <pc:sldMk cId="0" sldId="260"/>
        </pc:sldMkLst>
        <pc:spChg chg="mod">
          <ac:chgData name="ANIK KUMAR BISWAS" userId="f18dd9a85cfebdd9" providerId="LiveId" clId="{2E71AFAD-4D36-45FF-AFC0-27EF2E3DEF6B}" dt="2026-07-07T20:50:48.536" v="194" actId="13926"/>
          <ac:spMkLst>
            <pc:docMk/>
            <pc:sldMk cId="0" sldId="260"/>
            <ac:spMk id="81" creationId="{00000000-0000-0000-0000-000000000000}"/>
          </ac:spMkLst>
        </pc:spChg>
      </pc:sldChg>
      <pc:sldChg chg="del">
        <pc:chgData name="ANIK KUMAR BISWAS" userId="f18dd9a85cfebdd9" providerId="LiveId" clId="{2E71AFAD-4D36-45FF-AFC0-27EF2E3DEF6B}" dt="2026-07-07T20:32:14.868" v="168" actId="2696"/>
        <pc:sldMkLst>
          <pc:docMk/>
          <pc:sldMk cId="0" sldId="261"/>
        </pc:sldMkLst>
      </pc:sldChg>
      <pc:sldChg chg="addSp delSp modSp mod">
        <pc:chgData name="ANIK KUMAR BISWAS" userId="f18dd9a85cfebdd9" providerId="LiveId" clId="{2E71AFAD-4D36-45FF-AFC0-27EF2E3DEF6B}" dt="2026-07-07T20:50:54.632" v="196" actId="20577"/>
        <pc:sldMkLst>
          <pc:docMk/>
          <pc:sldMk cId="0" sldId="262"/>
        </pc:sldMkLst>
        <pc:spChg chg="add del mod">
          <ac:chgData name="ANIK KUMAR BISWAS" userId="f18dd9a85cfebdd9" providerId="LiveId" clId="{2E71AFAD-4D36-45FF-AFC0-27EF2E3DEF6B}" dt="2026-07-07T20:50:54.632" v="196" actId="20577"/>
          <ac:spMkLst>
            <pc:docMk/>
            <pc:sldMk cId="0" sldId="262"/>
            <ac:spMk id="95" creationId="{00000000-0000-0000-0000-000000000000}"/>
          </ac:spMkLst>
        </pc:spChg>
      </pc:sldChg>
      <pc:sldChg chg="addSp delSp modSp mod">
        <pc:chgData name="ANIK KUMAR BISWAS" userId="f18dd9a85cfebdd9" providerId="LiveId" clId="{2E71AFAD-4D36-45FF-AFC0-27EF2E3DEF6B}" dt="2026-07-07T20:50:31.074" v="192" actId="13926"/>
        <pc:sldMkLst>
          <pc:docMk/>
          <pc:sldMk cId="0" sldId="263"/>
        </pc:sldMkLst>
        <pc:spChg chg="add del mod">
          <ac:chgData name="ANIK KUMAR BISWAS" userId="f18dd9a85cfebdd9" providerId="LiveId" clId="{2E71AFAD-4D36-45FF-AFC0-27EF2E3DEF6B}" dt="2026-07-07T20:49:15.992" v="186"/>
          <ac:spMkLst>
            <pc:docMk/>
            <pc:sldMk cId="0" sldId="263"/>
            <ac:spMk id="4" creationId="{862ED8C6-E57A-E939-BBAA-C8C3DAAE6092}"/>
          </ac:spMkLst>
        </pc:spChg>
        <pc:spChg chg="mod">
          <ac:chgData name="ANIK KUMAR BISWAS" userId="f18dd9a85cfebdd9" providerId="LiveId" clId="{2E71AFAD-4D36-45FF-AFC0-27EF2E3DEF6B}" dt="2026-07-07T20:50:31.074" v="192" actId="13926"/>
          <ac:spMkLst>
            <pc:docMk/>
            <pc:sldMk cId="0" sldId="263"/>
            <ac:spMk id="102" creationId="{00000000-0000-0000-0000-000000000000}"/>
          </ac:spMkLst>
        </pc:spChg>
        <pc:graphicFrameChg chg="add mod modGraphic">
          <ac:chgData name="ANIK KUMAR BISWAS" userId="f18dd9a85cfebdd9" providerId="LiveId" clId="{2E71AFAD-4D36-45FF-AFC0-27EF2E3DEF6B}" dt="2026-07-07T20:50:23.301" v="191"/>
          <ac:graphicFrameMkLst>
            <pc:docMk/>
            <pc:sldMk cId="0" sldId="263"/>
            <ac:graphicFrameMk id="2" creationId="{FA89A60F-B95F-B456-A58B-D87D53D0E10A}"/>
          </ac:graphicFrameMkLst>
        </pc:graphicFrameChg>
      </pc:sldChg>
      <pc:sldChg chg="del">
        <pc:chgData name="ANIK KUMAR BISWAS" userId="f18dd9a85cfebdd9" providerId="LiveId" clId="{2E71AFAD-4D36-45FF-AFC0-27EF2E3DEF6B}" dt="2026-07-07T20:48:26.177" v="177" actId="2696"/>
        <pc:sldMkLst>
          <pc:docMk/>
          <pc:sldMk cId="0" sldId="264"/>
        </pc:sldMkLst>
      </pc:sldChg>
      <pc:sldChg chg="addSp modSp mod">
        <pc:chgData name="ANIK KUMAR BISWAS" userId="f18dd9a85cfebdd9" providerId="LiveId" clId="{2E71AFAD-4D36-45FF-AFC0-27EF2E3DEF6B}" dt="2026-07-08T19:50:42.408" v="225" actId="1076"/>
        <pc:sldMkLst>
          <pc:docMk/>
          <pc:sldMk cId="0" sldId="265"/>
        </pc:sldMkLst>
        <pc:spChg chg="mod">
          <ac:chgData name="ANIK KUMAR BISWAS" userId="f18dd9a85cfebdd9" providerId="LiveId" clId="{2E71AFAD-4D36-45FF-AFC0-27EF2E3DEF6B}" dt="2026-07-08T19:50:29.991" v="222" actId="20577"/>
          <ac:spMkLst>
            <pc:docMk/>
            <pc:sldMk cId="0" sldId="265"/>
            <ac:spMk id="116" creationId="{00000000-0000-0000-0000-000000000000}"/>
          </ac:spMkLst>
        </pc:spChg>
        <pc:picChg chg="add mod">
          <ac:chgData name="ANIK KUMAR BISWAS" userId="f18dd9a85cfebdd9" providerId="LiveId" clId="{2E71AFAD-4D36-45FF-AFC0-27EF2E3DEF6B}" dt="2026-07-08T19:50:42.408" v="225" actId="1076"/>
          <ac:picMkLst>
            <pc:docMk/>
            <pc:sldMk cId="0" sldId="265"/>
            <ac:picMk id="3" creationId="{CE32BBE2-1267-E526-A028-A7E393D23F94}"/>
          </ac:picMkLst>
        </pc:picChg>
      </pc:sldChg>
      <pc:sldChg chg="addSp delSp modSp mod">
        <pc:chgData name="ANIK KUMAR BISWAS" userId="f18dd9a85cfebdd9" providerId="LiveId" clId="{2E71AFAD-4D36-45FF-AFC0-27EF2E3DEF6B}" dt="2026-07-07T21:03:19.597" v="207"/>
        <pc:sldMkLst>
          <pc:docMk/>
          <pc:sldMk cId="0" sldId="266"/>
        </pc:sldMkLst>
        <pc:spChg chg="add del mod">
          <ac:chgData name="ANIK KUMAR BISWAS" userId="f18dd9a85cfebdd9" providerId="LiveId" clId="{2E71AFAD-4D36-45FF-AFC0-27EF2E3DEF6B}" dt="2026-07-07T21:02:29.863" v="204" actId="478"/>
          <ac:spMkLst>
            <pc:docMk/>
            <pc:sldMk cId="0" sldId="266"/>
            <ac:spMk id="4" creationId="{502115E9-1FBA-5E44-DCF3-F6F18EC08DC1}"/>
          </ac:spMkLst>
        </pc:spChg>
        <pc:spChg chg="mod">
          <ac:chgData name="ANIK KUMAR BISWAS" userId="f18dd9a85cfebdd9" providerId="LiveId" clId="{2E71AFAD-4D36-45FF-AFC0-27EF2E3DEF6B}" dt="2026-07-07T21:01:58.538" v="198" actId="20577"/>
          <ac:spMkLst>
            <pc:docMk/>
            <pc:sldMk cId="0" sldId="266"/>
            <ac:spMk id="123" creationId="{00000000-0000-0000-0000-000000000000}"/>
          </ac:spMkLst>
        </pc:spChg>
        <pc:graphicFrameChg chg="add mod modGraphic">
          <ac:chgData name="ANIK KUMAR BISWAS" userId="f18dd9a85cfebdd9" providerId="LiveId" clId="{2E71AFAD-4D36-45FF-AFC0-27EF2E3DEF6B}" dt="2026-07-07T21:03:19.597" v="207"/>
          <ac:graphicFrameMkLst>
            <pc:docMk/>
            <pc:sldMk cId="0" sldId="266"/>
            <ac:graphicFrameMk id="2" creationId="{255BFEA4-9C13-38CE-750C-6CB2629D6011}"/>
          </ac:graphicFrameMkLst>
        </pc:graphicFrameChg>
      </pc:sldChg>
      <pc:sldChg chg="modSp mod">
        <pc:chgData name="ANIK KUMAR BISWAS" userId="f18dd9a85cfebdd9" providerId="LiveId" clId="{2E71AFAD-4D36-45FF-AFC0-27EF2E3DEF6B}" dt="2026-07-07T21:06:00.189" v="215" actId="13926"/>
        <pc:sldMkLst>
          <pc:docMk/>
          <pc:sldMk cId="0" sldId="267"/>
        </pc:sldMkLst>
        <pc:spChg chg="mod">
          <ac:chgData name="ANIK KUMAR BISWAS" userId="f18dd9a85cfebdd9" providerId="LiveId" clId="{2E71AFAD-4D36-45FF-AFC0-27EF2E3DEF6B}" dt="2026-07-07T21:06:00.189" v="215" actId="13926"/>
          <ac:spMkLst>
            <pc:docMk/>
            <pc:sldMk cId="0" sldId="267"/>
            <ac:spMk id="130" creationId="{00000000-0000-0000-0000-000000000000}"/>
          </ac:spMkLst>
        </pc:spChg>
      </pc:sldChg>
      <pc:sldChg chg="modSp mod">
        <pc:chgData name="ANIK KUMAR BISWAS" userId="f18dd9a85cfebdd9" providerId="LiveId" clId="{2E71AFAD-4D36-45FF-AFC0-27EF2E3DEF6B}" dt="2026-07-08T19:51:00.617" v="227" actId="20577"/>
        <pc:sldMkLst>
          <pc:docMk/>
          <pc:sldMk cId="0" sldId="268"/>
        </pc:sldMkLst>
        <pc:spChg chg="mod">
          <ac:chgData name="ANIK KUMAR BISWAS" userId="f18dd9a85cfebdd9" providerId="LiveId" clId="{2E71AFAD-4D36-45FF-AFC0-27EF2E3DEF6B}" dt="2026-07-08T19:51:00.617" v="227" actId="20577"/>
          <ac:spMkLst>
            <pc:docMk/>
            <pc:sldMk cId="0" sldId="268"/>
            <ac:spMk id="137" creationId="{00000000-0000-0000-0000-000000000000}"/>
          </ac:spMkLst>
        </pc:spChg>
      </pc:sldChg>
      <pc:sldChg chg="del">
        <pc:chgData name="ANIK KUMAR BISWAS" userId="f18dd9a85cfebdd9" providerId="LiveId" clId="{2E71AFAD-4D36-45FF-AFC0-27EF2E3DEF6B}" dt="2026-07-07T20:32:02.556" v="167" actId="2696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d00c6239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d00c6239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00c6239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00c6239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/>
              <a:t>Team Details</a:t>
            </a:r>
            <a:endParaRPr sz="15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name: </a:t>
            </a:r>
            <a:r>
              <a:rPr lang="en-GB" sz="1500" b="1" dirty="0" err="1"/>
              <a:t>Code_With_Anik</a:t>
            </a:r>
            <a:endParaRPr sz="1500"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GB" sz="1500" b="1" dirty="0"/>
              <a:t>Team leader name: Anik Kumar Biswas- (Single contributor)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IN" b="1" dirty="0"/>
              <a:t>Problem Statement:</a:t>
            </a:r>
            <a:r>
              <a:rPr lang="en-IN" dirty="0"/>
              <a:t> </a:t>
            </a:r>
            <a:r>
              <a:rPr lang="en-IN" b="1" dirty="0"/>
              <a:t>Prospect Assist AI – AI-Powered Retail Lending Decision Intelligence &amp; Maker-Checker Platform</a:t>
            </a:r>
            <a:endParaRPr lang="en-IN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-IN" b="1" dirty="0"/>
              <a:t>Project Name:</a:t>
            </a:r>
            <a:r>
              <a:rPr lang="en-IN" dirty="0"/>
              <a:t> </a:t>
            </a:r>
            <a:r>
              <a:rPr lang="en-IN" b="1" dirty="0"/>
              <a:t>Project NIRNAY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01000" y="765281"/>
            <a:ext cx="8943000" cy="361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highlight>
                  <a:srgbClr val="FFFF00"/>
                </a:highlight>
              </a:rPr>
              <a:t>Brief about the idea: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/>
          </a:p>
          <a:p>
            <a:r>
              <a:rPr lang="en-IN" b="1" dirty="0"/>
              <a:t>Project NIRNAY</a:t>
            </a:r>
            <a:r>
              <a:rPr lang="en-IN" dirty="0"/>
              <a:t> is an AI-powered Retail Lending Decision Intelligence Platform designed to help banks identify high-quality loan prospects, accurately estimate repayment capacity, and improve lending decisions through a transparent Maker–Checker approval workflow.</a:t>
            </a:r>
          </a:p>
          <a:p>
            <a:r>
              <a:rPr lang="en-IN" dirty="0"/>
              <a:t>The solution combines machine learning, underwriting analytics, and explainable AI to </a:t>
            </a:r>
            <a:r>
              <a:rPr lang="en-IN" dirty="0" err="1"/>
              <a:t>analyze</a:t>
            </a:r>
            <a:r>
              <a:rPr lang="en-IN" dirty="0"/>
              <a:t> customer transaction </a:t>
            </a:r>
            <a:r>
              <a:rPr lang="en-IN" dirty="0" err="1"/>
              <a:t>behavior</a:t>
            </a:r>
            <a:r>
              <a:rPr lang="en-IN" dirty="0"/>
              <a:t>, credit profile, salary consistency, and repayment capability. It generates prospect scores, recommends suitable loan products, validates lending policies, and provides AI-assisted decision support while ensuring every approval passes through a secure Maker–Checker process with a complete audit trail.</a:t>
            </a:r>
          </a:p>
          <a:p>
            <a:r>
              <a:rPr lang="en-IN" dirty="0"/>
              <a:t>By reducing manual effort, improving lead quality, and enabling transparent, policy-driven credit decisions, Project NIRNAY helps banks increase loan conversion rates while maintaining strong governance and regulatory compliance.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298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highlight>
                  <a:srgbClr val="FFFF00"/>
                </a:highlight>
              </a:rPr>
              <a:t>Opportunities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rgbClr val="FFFF00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b="1" i="1" dirty="0"/>
              <a:t>How different is it from any of the other existing ideas? </a:t>
            </a:r>
            <a:r>
              <a:rPr lang="en-GB" dirty="0"/>
              <a:t>– </a:t>
            </a:r>
            <a:r>
              <a:rPr lang="en-IN" dirty="0"/>
              <a:t>Moves beyond traditional rule-based lending by combining AI-driven prospect scoring, income estimation, and </a:t>
            </a:r>
            <a:r>
              <a:rPr lang="en-IN" dirty="0" err="1"/>
              <a:t>behavioral</a:t>
            </a:r>
            <a:r>
              <a:rPr lang="en-IN" dirty="0"/>
              <a:t> transaction </a:t>
            </a:r>
            <a:r>
              <a:rPr lang="en-IN" dirty="0" err="1"/>
              <a:t>analysis.Integrates</a:t>
            </a:r>
            <a:r>
              <a:rPr lang="en-IN" dirty="0"/>
              <a:t> a Maker–Checker approval workflow, ensuring every lending decision is transparent, auditable, and compliant with banking governance.</a:t>
            </a:r>
            <a:endParaRPr dirty="0"/>
          </a:p>
          <a:p>
            <a:pPr marL="457200" lvl="0" indent="-317500">
              <a:buSzPts val="1400"/>
              <a:buChar char="●"/>
            </a:pPr>
            <a:r>
              <a:rPr lang="en-GB" b="1" i="1" dirty="0"/>
              <a:t>How will it be able to solve the problem?- </a:t>
            </a:r>
            <a:r>
              <a:rPr lang="en-IN" dirty="0"/>
              <a:t>Identifies high-quality loan prospects using customer transaction patterns, credit score, salary consistency, and repayment </a:t>
            </a:r>
            <a:r>
              <a:rPr lang="en-IN" dirty="0" err="1"/>
              <a:t>behavior.Estimates</a:t>
            </a:r>
            <a:r>
              <a:rPr lang="en-IN" dirty="0"/>
              <a:t> actual repayment capacity through underwriting metrics such as FOIR (Fixed Obligation to Income Ratio) and repayment capacity </a:t>
            </a:r>
            <a:r>
              <a:rPr lang="en-IN" dirty="0" err="1"/>
              <a:t>analysis.Recommends</a:t>
            </a:r>
            <a:r>
              <a:rPr lang="en-IN" dirty="0"/>
              <a:t> the most suitable loan product while validating applications against predefined lending policies.</a:t>
            </a:r>
            <a:endParaRPr dirty="0"/>
          </a:p>
          <a:p>
            <a:pPr marL="457200" lvl="0" indent="-317500">
              <a:buSzPts val="1400"/>
              <a:buChar char="●"/>
            </a:pPr>
            <a:r>
              <a:rPr lang="en-GB" b="1" i="1" dirty="0"/>
              <a:t>USP of the proposed solution </a:t>
            </a:r>
            <a:r>
              <a:rPr lang="en-GB" dirty="0"/>
              <a:t>- </a:t>
            </a:r>
            <a:r>
              <a:rPr lang="en-IN" dirty="0"/>
              <a:t>End-to-End AI-Powered Lending Decision Platform combining Prospect Scoring, Underwriting Intelligence, Explainable AI, Policy Validation, and Maker–Checker </a:t>
            </a:r>
            <a:r>
              <a:rPr lang="en-IN" dirty="0" err="1"/>
              <a:t>Governance.Transparent</a:t>
            </a:r>
            <a:r>
              <a:rPr lang="en-IN" dirty="0"/>
              <a:t> and auditable decision-making with a complete Audit Trail for regulatory </a:t>
            </a:r>
            <a:r>
              <a:rPr lang="en-IN" dirty="0" err="1"/>
              <a:t>compliance.Modular</a:t>
            </a:r>
            <a:r>
              <a:rPr lang="en-IN" dirty="0"/>
              <a:t>, scalable architecture that can be integrated with existing Core Banking Systems, Loan Origination Systems (LOS), and Credit Bureau services.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List of Features Offered by the Solution:</a:t>
            </a:r>
          </a:p>
          <a:p>
            <a:endParaRPr lang="en-IN" b="1" dirty="0">
              <a:highlight>
                <a:srgbClr val="FFFF00"/>
              </a:highlight>
            </a:endParaRPr>
          </a:p>
          <a:p>
            <a:r>
              <a:rPr lang="en-IN" b="1" dirty="0"/>
              <a:t>🤖 AI-Powered Prospect Scoring</a:t>
            </a:r>
            <a:r>
              <a:rPr lang="en-IN" dirty="0"/>
              <a:t> – Identifies high-quality loan prospects using transaction behaviour, credit profile, and customer intent.</a:t>
            </a:r>
          </a:p>
          <a:p>
            <a:r>
              <a:rPr lang="en-IN" b="1" dirty="0"/>
              <a:t>💰 Intelligent Underwriting</a:t>
            </a:r>
            <a:r>
              <a:rPr lang="en-IN" dirty="0"/>
              <a:t> – Estimates income, calculates FOIR and repayment capacity for prudent lending decisions.</a:t>
            </a:r>
          </a:p>
          <a:p>
            <a:r>
              <a:rPr lang="en-IN" b="1" dirty="0"/>
              <a:t>🏦 Smart Loan Recommendation</a:t>
            </a:r>
            <a:r>
              <a:rPr lang="en-IN" dirty="0"/>
              <a:t> – Recommends the most suitable loan product (Personal, Home, Auto, Mortgage) based on customer eligibility.</a:t>
            </a:r>
          </a:p>
          <a:p>
            <a:r>
              <a:rPr lang="en-IN" b="1" dirty="0"/>
              <a:t>🔍 Explainable AI (XAI)</a:t>
            </a:r>
            <a:r>
              <a:rPr lang="en-IN" dirty="0"/>
              <a:t> – Provides transparent reasons behind every AI recommendation to improve trust and decision-making.</a:t>
            </a:r>
          </a:p>
          <a:p>
            <a:r>
              <a:rPr lang="en-IN" b="1" dirty="0"/>
              <a:t>📑 Lending Policy Validation</a:t>
            </a:r>
            <a:r>
              <a:rPr lang="en-IN" dirty="0"/>
              <a:t> – Automatically checks applications against predefined banking policies and eligibility criteria.</a:t>
            </a:r>
          </a:p>
          <a:p>
            <a:r>
              <a:rPr lang="en-IN" b="1" dirty="0"/>
              <a:t>⚠️ Risk &amp; Eligibility Assessment</a:t>
            </a:r>
            <a:r>
              <a:rPr lang="en-IN" dirty="0"/>
              <a:t> – Generates eligibility scores and risk classifications to support credit officers.</a:t>
            </a:r>
          </a:p>
          <a:p>
            <a:r>
              <a:rPr lang="en-IN" b="1" dirty="0"/>
              <a:t>👥 Maker–Checker Workflow</a:t>
            </a:r>
            <a:r>
              <a:rPr lang="en-IN" dirty="0"/>
              <a:t> – Enables dual authorization with Maker and Checker approvals to ensure governance and compliance.</a:t>
            </a:r>
          </a:p>
          <a:p>
            <a:r>
              <a:rPr lang="en-IN" b="1" dirty="0"/>
              <a:t>📋 Audit Trail &amp; Dashboard</a:t>
            </a:r>
            <a:r>
              <a:rPr lang="en-IN" dirty="0"/>
              <a:t> – Maintains complete decision history and provides real-time insights through an interactive lending dashboard.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64350" y="6456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highlight>
                  <a:srgbClr val="FFFF00"/>
                </a:highlight>
              </a:rPr>
              <a:t>Process flow diagram or Use-case diagram :</a:t>
            </a:r>
          </a:p>
          <a:p>
            <a:endParaRPr lang="en-IN" b="1" dirty="0"/>
          </a:p>
          <a:p>
            <a:r>
              <a:rPr lang="en-IN" b="1" dirty="0"/>
              <a:t>Customer Data &amp; Transactions</a:t>
            </a:r>
            <a:br>
              <a:rPr lang="en-IN" dirty="0"/>
            </a:br>
            <a:r>
              <a:rPr lang="en-IN" dirty="0"/>
              <a:t>⬇️</a:t>
            </a:r>
            <a:br>
              <a:rPr lang="en-IN" dirty="0"/>
            </a:br>
            <a:r>
              <a:rPr lang="en-IN" b="1" dirty="0"/>
              <a:t>Data Preprocessing &amp; Feature Engineering</a:t>
            </a:r>
            <a:br>
              <a:rPr lang="en-IN" dirty="0"/>
            </a:br>
            <a:r>
              <a:rPr lang="en-IN" dirty="0"/>
              <a:t>⬇️</a:t>
            </a:r>
            <a:br>
              <a:rPr lang="en-IN" dirty="0"/>
            </a:br>
            <a:r>
              <a:rPr lang="en-IN" b="1" dirty="0"/>
              <a:t>AI Prospect Scoring &amp; Income Estimation</a:t>
            </a:r>
            <a:br>
              <a:rPr lang="en-IN" dirty="0"/>
            </a:br>
            <a:r>
              <a:rPr lang="en-IN" dirty="0"/>
              <a:t>⬇️</a:t>
            </a:r>
            <a:br>
              <a:rPr lang="en-IN" dirty="0"/>
            </a:br>
            <a:r>
              <a:rPr lang="en-IN" b="1" dirty="0"/>
              <a:t>Underwriting Assessment</a:t>
            </a:r>
            <a:r>
              <a:rPr lang="en-IN" dirty="0"/>
              <a:t> </a:t>
            </a:r>
            <a:r>
              <a:rPr lang="en-IN" i="1" dirty="0"/>
              <a:t>(FOIR, Repayment Capacity, Eligibility Score)</a:t>
            </a:r>
            <a:br>
              <a:rPr lang="en-IN" dirty="0"/>
            </a:br>
            <a:r>
              <a:rPr lang="en-IN" dirty="0"/>
              <a:t>⬇️</a:t>
            </a:r>
            <a:br>
              <a:rPr lang="en-IN" dirty="0"/>
            </a:br>
            <a:r>
              <a:rPr lang="en-IN" b="1" dirty="0"/>
              <a:t>Lending Policy Validation &amp; Risk Assessment</a:t>
            </a:r>
            <a:br>
              <a:rPr lang="en-IN" dirty="0"/>
            </a:br>
            <a:r>
              <a:rPr lang="en-IN" dirty="0"/>
              <a:t>⬇️</a:t>
            </a:r>
            <a:br>
              <a:rPr lang="en-IN" dirty="0"/>
            </a:br>
            <a:r>
              <a:rPr lang="en-IN" b="1" dirty="0"/>
              <a:t>Explainable AI Recommendation</a:t>
            </a:r>
            <a:r>
              <a:rPr lang="en-IN" dirty="0"/>
              <a:t> </a:t>
            </a:r>
            <a:r>
              <a:rPr lang="en-IN" i="1" dirty="0"/>
              <a:t>(Approve / Review / Reject)</a:t>
            </a:r>
            <a:br>
              <a:rPr lang="en-IN" dirty="0"/>
            </a:br>
            <a:r>
              <a:rPr lang="en-IN" dirty="0"/>
              <a:t>⬇️</a:t>
            </a:r>
            <a:br>
              <a:rPr lang="en-IN" dirty="0"/>
            </a:br>
            <a:r>
              <a:rPr lang="en-IN" b="1" dirty="0"/>
              <a:t>Maker–Checker Approval Workflow</a:t>
            </a:r>
            <a:br>
              <a:rPr lang="en-IN" dirty="0"/>
            </a:br>
            <a:r>
              <a:rPr lang="en-IN" dirty="0"/>
              <a:t>⬇️</a:t>
            </a:r>
            <a:br>
              <a:rPr lang="en-IN" dirty="0"/>
            </a:br>
            <a:r>
              <a:rPr lang="en-IN" b="1" dirty="0"/>
              <a:t>Final Loan Decision, Audit Trail &amp; Dashboard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highlight>
                  <a:srgbClr val="FFFF00"/>
                </a:highlight>
              </a:rPr>
              <a:t>Architecture diagram of the proposed solution: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b="1" dirty="0">
              <a:highlight>
                <a:srgbClr val="FFFF00"/>
              </a:highlight>
            </a:endParaRPr>
          </a:p>
          <a:p>
            <a:r>
              <a:rPr lang="en-IN" b="1" dirty="0"/>
              <a:t>👤 Customer Data</a:t>
            </a:r>
            <a:br>
              <a:rPr lang="en-IN" dirty="0"/>
            </a:br>
            <a:r>
              <a:rPr lang="en-IN" dirty="0"/>
              <a:t>(Customer Profile • Transactions • Credit Score)</a:t>
            </a:r>
          </a:p>
          <a:p>
            <a:r>
              <a:rPr lang="en-IN" dirty="0"/>
              <a:t>➡️</a:t>
            </a:r>
          </a:p>
          <a:p>
            <a:r>
              <a:rPr lang="en-IN" b="1" dirty="0"/>
              <a:t>⚙️ Data Processing</a:t>
            </a:r>
            <a:br>
              <a:rPr lang="en-IN" dirty="0"/>
            </a:br>
            <a:r>
              <a:rPr lang="en-IN" dirty="0"/>
              <a:t>(Feature Engineering)</a:t>
            </a:r>
          </a:p>
          <a:p>
            <a:r>
              <a:rPr lang="en-IN" dirty="0"/>
              <a:t>➡️</a:t>
            </a:r>
          </a:p>
          <a:p>
            <a:r>
              <a:rPr lang="en-IN" b="1" dirty="0"/>
              <a:t>🤖 AI Decision Engine</a:t>
            </a:r>
            <a:br>
              <a:rPr lang="en-IN" dirty="0"/>
            </a:br>
            <a:r>
              <a:rPr lang="en-IN" dirty="0"/>
              <a:t>(Prospect Scoring • Income Prediction • Underwriting)</a:t>
            </a:r>
          </a:p>
          <a:p>
            <a:r>
              <a:rPr lang="en-IN" dirty="0"/>
              <a:t>➡️</a:t>
            </a:r>
          </a:p>
          <a:p>
            <a:r>
              <a:rPr lang="en-IN" b="1" dirty="0"/>
              <a:t>📑 Policy &amp; Risk Engine</a:t>
            </a:r>
            <a:br>
              <a:rPr lang="en-IN" dirty="0"/>
            </a:br>
            <a:r>
              <a:rPr lang="en-IN" dirty="0"/>
              <a:t>(Policy Validation • Explainable AI)</a:t>
            </a:r>
          </a:p>
          <a:p>
            <a:r>
              <a:rPr lang="en-IN" dirty="0"/>
              <a:t>➡️</a:t>
            </a:r>
          </a:p>
          <a:p>
            <a:r>
              <a:rPr lang="en-IN" b="1" dirty="0"/>
              <a:t>👥 Maker–Checker Workflow</a:t>
            </a:r>
            <a:br>
              <a:rPr lang="en-IN" dirty="0"/>
            </a:br>
            <a:r>
              <a:rPr lang="en-IN" dirty="0"/>
              <a:t>(Dual Authorization &amp; Approval)</a:t>
            </a:r>
          </a:p>
          <a:p>
            <a:r>
              <a:rPr lang="en-IN" dirty="0"/>
              <a:t>➡️</a:t>
            </a:r>
          </a:p>
          <a:p>
            <a:r>
              <a:rPr lang="en-IN" b="1" dirty="0"/>
              <a:t>📊 Dashboard &amp; Audit Trail</a:t>
            </a:r>
            <a:br>
              <a:rPr lang="en-IN" dirty="0"/>
            </a:br>
            <a:r>
              <a:rPr lang="en-IN" dirty="0"/>
              <a:t>(Final Decision • Loan Recommendation • Portfolio KPIs)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100500" y="688131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highlight>
                  <a:srgbClr val="FFFF00"/>
                </a:highlight>
              </a:rPr>
              <a:t>Technologies to be used in the solution: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89A60F-B95F-B456-A58B-D87D53D0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896980"/>
              </p:ext>
            </p:extLst>
          </p:nvPr>
        </p:nvGraphicFramePr>
        <p:xfrm>
          <a:off x="311150" y="1489075"/>
          <a:ext cx="8521700" cy="274320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2458346090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566337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Category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711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Programming Language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08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Machine Learning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Scikit-learn, Pandas, NumPy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77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Generation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06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Frontend / Dashboard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Streamlit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802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Model Persistence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Joblib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861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Storage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CSV Files (Prototype)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717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Development Environment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PyCharm, Git,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87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Deployment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 Community Cloud /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0306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Snapshots of the prototype: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32BBE2-1267-E526-A028-A7E393D23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44" y="1148355"/>
            <a:ext cx="7586133" cy="3809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Prototype Performance report/Benchmarking: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5BFEA4-9C13-38CE-750C-6CB2629D6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663878"/>
              </p:ext>
            </p:extLst>
          </p:nvPr>
        </p:nvGraphicFramePr>
        <p:xfrm>
          <a:off x="265350" y="1306475"/>
          <a:ext cx="6992761" cy="3169920"/>
        </p:xfrm>
        <a:graphic>
          <a:graphicData uri="http://schemas.openxmlformats.org/drawingml/2006/table">
            <a:tbl>
              <a:tblPr/>
              <a:tblGrid>
                <a:gridCol w="2731911">
                  <a:extLst>
                    <a:ext uri="{9D8B030D-6E8A-4147-A177-3AD203B41FA5}">
                      <a16:colId xmlns:a16="http://schemas.microsoft.com/office/drawing/2014/main" val="4275669438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4137508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Prototype Result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709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Prospect Scoring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Successfully identifies high-potential loan prospects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712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Income Prediction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R² Score: </a:t>
                      </a:r>
                      <a:r>
                        <a:rPr lang="en-IN" b="1"/>
                        <a:t>1.00</a:t>
                      </a:r>
                      <a:r>
                        <a:rPr lang="en-IN"/>
                        <a:t> </a:t>
                      </a:r>
                      <a:r>
                        <a:rPr lang="en-IN" i="1"/>
                        <a:t>(Synthetic Dataset)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915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Income Prediction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MAE: </a:t>
                      </a:r>
                      <a:r>
                        <a:rPr lang="en-IN" b="1"/>
                        <a:t>0.00</a:t>
                      </a:r>
                      <a:r>
                        <a:rPr lang="en-IN"/>
                        <a:t> </a:t>
                      </a:r>
                      <a:r>
                        <a:rPr lang="en-IN" i="1"/>
                        <a:t>(Synthetic Dataset)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855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Underwriting Assessment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Automated FOIR &amp; Repayment Capacity Calculation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823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eligibility checks against lending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767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Transparency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Explainable AI with decision reasons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60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Dual Maker–Checker approval with Audit Trail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401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Interactive </a:t>
                      </a:r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 Dashboard with real-time 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3122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Additional Details / Future Development :</a:t>
            </a:r>
          </a:p>
          <a:p>
            <a:endParaRPr lang="en-IN" b="1" dirty="0"/>
          </a:p>
          <a:p>
            <a:r>
              <a:rPr lang="en-IN" dirty="0"/>
              <a:t>Integrate with </a:t>
            </a:r>
            <a:r>
              <a:rPr lang="en-IN" b="1" dirty="0"/>
              <a:t>Core Banking Systems (CBS)</a:t>
            </a:r>
            <a:r>
              <a:rPr lang="en-IN" dirty="0"/>
              <a:t> and </a:t>
            </a:r>
            <a:r>
              <a:rPr lang="en-IN" b="1" dirty="0"/>
              <a:t>Loan Origination Systems (LOS)</a:t>
            </a:r>
            <a:r>
              <a:rPr lang="en-IN" dirty="0"/>
              <a:t> for end-to-end loan processing.</a:t>
            </a:r>
          </a:p>
          <a:p>
            <a:r>
              <a:rPr lang="en-IN" dirty="0"/>
              <a:t>Connect to </a:t>
            </a:r>
            <a:r>
              <a:rPr lang="en-IN" b="1" dirty="0"/>
              <a:t>Credit Bureau APIs</a:t>
            </a:r>
            <a:r>
              <a:rPr lang="en-IN" dirty="0"/>
              <a:t> (e.g., CIBIL, Experian, CRIF) for real-time credit assessment.</a:t>
            </a:r>
          </a:p>
          <a:p>
            <a:r>
              <a:rPr lang="en-IN" dirty="0"/>
              <a:t>Support </a:t>
            </a:r>
            <a:r>
              <a:rPr lang="en-IN" b="1" dirty="0"/>
              <a:t>Bank Statement Analysis</a:t>
            </a:r>
            <a:r>
              <a:rPr lang="en-IN" dirty="0"/>
              <a:t> using OCR and AI to improve income verification.</a:t>
            </a:r>
          </a:p>
          <a:p>
            <a:r>
              <a:rPr lang="en-IN" dirty="0"/>
              <a:t>Implement </a:t>
            </a:r>
            <a:r>
              <a:rPr lang="en-IN" b="1" dirty="0"/>
              <a:t>Fraud Detection &amp; AML</a:t>
            </a:r>
            <a:r>
              <a:rPr lang="en-IN" dirty="0"/>
              <a:t> models to identify suspicious lending activities.</a:t>
            </a:r>
          </a:p>
          <a:p>
            <a:r>
              <a:rPr lang="en-IN" dirty="0"/>
              <a:t>Introduce a </a:t>
            </a:r>
            <a:r>
              <a:rPr lang="en-IN" b="1" dirty="0"/>
              <a:t>GenAI Lending Assistant</a:t>
            </a:r>
            <a:r>
              <a:rPr lang="en-IN" dirty="0"/>
              <a:t> to help credit officers summarize applications and explain decisions.</a:t>
            </a:r>
          </a:p>
          <a:p>
            <a:r>
              <a:rPr lang="en-IN" dirty="0"/>
              <a:t>Add </a:t>
            </a:r>
            <a:r>
              <a:rPr lang="en-IN" b="1" dirty="0"/>
              <a:t>Role-Based Access Control (RBAC)</a:t>
            </a:r>
            <a:r>
              <a:rPr lang="en-IN" dirty="0"/>
              <a:t>, multi-level approvals, and digital signatures for enterprise deployment.</a:t>
            </a:r>
          </a:p>
          <a:p>
            <a:r>
              <a:rPr lang="en-IN" dirty="0"/>
              <a:t>Deploy on a </a:t>
            </a:r>
            <a:r>
              <a:rPr lang="en-IN" b="1" dirty="0"/>
              <a:t>secure cloud platform</a:t>
            </a:r>
            <a:r>
              <a:rPr lang="en-IN" dirty="0"/>
              <a:t> with monitoring, logging, and scalable microservices architecture.</a:t>
            </a:r>
          </a:p>
          <a:p>
            <a:r>
              <a:rPr lang="en-IN" dirty="0"/>
              <a:t>Enhance analytics with </a:t>
            </a:r>
            <a:r>
              <a:rPr lang="en-IN" b="1" dirty="0"/>
              <a:t>portfolio monitoring, loan default prediction, and customer retention insights</a:t>
            </a:r>
            <a:r>
              <a:rPr lang="en-IN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Provide links to your: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500">
              <a:buSzPts val="1400"/>
              <a:buChar char="●"/>
            </a:pPr>
            <a:r>
              <a:rPr lang="en-GB" dirty="0"/>
              <a:t>GitHub Public Repository : https://github.com/Anik-1997-Biswas/IDBI-AI-Powered-Maker-Checker-Retail-Lending-Decision-Intelligence-Platform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dirty="0"/>
              <a:t>Final </a:t>
            </a:r>
            <a:r>
              <a:rPr lang="en-GB"/>
              <a:t>Product Link: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 title="IDBI banner deck 2.png"/>
          <p:cNvPicPr preferRelativeResize="0"/>
          <p:nvPr/>
        </p:nvPicPr>
        <p:blipFill rotWithShape="1">
          <a:blip r:embed="rId3">
            <a:alphaModFix/>
          </a:blip>
          <a:srcRect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7" title="IDBI banner deck 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993</Words>
  <Application>Microsoft Office PowerPoint</Application>
  <PresentationFormat>On-screen Show (16:9)</PresentationFormat>
  <Paragraphs>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ANIK KUMAR BISWAS</cp:lastModifiedBy>
  <cp:revision>1</cp:revision>
  <dcterms:modified xsi:type="dcterms:W3CDTF">2026-07-08T19:51:10Z</dcterms:modified>
</cp:coreProperties>
</file>